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tudio.google.com/reporting/87dbed6e-5b07-482f-a205-7854e8954b54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256032" cy="109728"/>
          </a:xfrm>
          <a:prstGeom prst="round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7" y="640080"/>
            <a:ext cx="256032" cy="109728"/>
          </a:xfrm>
          <a:prstGeom prst="round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08176" y="640080"/>
            <a:ext cx="256032" cy="109728"/>
          </a:xfrm>
          <a:prstGeom prst="round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8496813" cy="11541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8FC"/>
                </a:solidFill>
                <a:latin typeface="Times New Roman"/>
              </a:defRPr>
            </a:pPr>
            <a:r>
              <a:rPr sz="4000" dirty="0" err="1"/>
              <a:t>ApexPlanet</a:t>
            </a:r>
            <a:r>
              <a:rPr sz="4000" dirty="0"/>
              <a:t> Data Analytics Internship</a:t>
            </a:r>
          </a:p>
          <a:p>
            <a:pPr>
              <a:defRPr sz="2900" b="1">
                <a:solidFill>
                  <a:srgbClr val="B8ADFF"/>
                </a:solidFill>
                <a:latin typeface="Times New Roman"/>
              </a:defRPr>
            </a:pPr>
            <a:r>
              <a:rPr sz="2800" dirty="0"/>
              <a:t>From Raw Data to Business </a:t>
            </a:r>
            <a:r>
              <a:rPr sz="2800" dirty="0" smtClean="0"/>
              <a:t>Insights</a:t>
            </a:r>
            <a:endParaRPr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4238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Capstone Portfolio &amp; </a:t>
            </a:r>
            <a:r>
              <a:rPr sz="2000" dirty="0" smtClean="0"/>
              <a:t>Learning </a:t>
            </a:r>
            <a:r>
              <a:rPr sz="2000" dirty="0"/>
              <a:t>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074920"/>
            <a:ext cx="338919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8FC"/>
                </a:solidFill>
                <a:latin typeface="Times New Roman"/>
              </a:defRPr>
            </a:pPr>
            <a:r>
              <a:rPr sz="2400" dirty="0" err="1"/>
              <a:t>Anugrah</a:t>
            </a:r>
            <a:r>
              <a:rPr sz="2400" dirty="0"/>
              <a:t> </a:t>
            </a:r>
            <a:r>
              <a:rPr sz="2400" dirty="0" err="1"/>
              <a:t>Dubey</a:t>
            </a:r>
            <a:endParaRPr sz="2400" dirty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1600" dirty="0" err="1"/>
              <a:t>B.Tech</a:t>
            </a:r>
            <a:r>
              <a:rPr sz="1600" dirty="0"/>
              <a:t> Computer Science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3977639"/>
            <a:ext cx="2560320" cy="15087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32520" y="3977639"/>
            <a:ext cx="64008" cy="1508760"/>
          </a:xfrm>
          <a:prstGeom prst="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3688" y="4142231"/>
            <a:ext cx="22268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Portfolio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4562855"/>
            <a:ext cx="219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BFCD"/>
                </a:solidFill>
                <a:latin typeface="Times New Roman"/>
              </a:defRPr>
            </a:pPr>
            <a:r>
              <a:rPr sz="1600" dirty="0"/>
              <a:t>Tasks 01–04</a:t>
            </a:r>
            <a:br>
              <a:rPr sz="1600" dirty="0"/>
            </a:br>
            <a:r>
              <a:rPr sz="1600" dirty="0"/>
              <a:t>Dataset: 1,000 records</a:t>
            </a:r>
            <a:br>
              <a:rPr sz="1600" dirty="0"/>
            </a:br>
            <a:r>
              <a:rPr sz="1600" dirty="0"/>
              <a:t>Focus: Data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2592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 err="1"/>
              <a:t>ApexPlanet</a:t>
            </a:r>
            <a:r>
              <a:rPr sz="1000" dirty="0"/>
              <a:t> Data Analytics Internship • Task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4094" y="6510528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40244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8FC"/>
                </a:solidFill>
                <a:latin typeface="Times New Roman"/>
              </a:defRPr>
            </a:pPr>
            <a:r>
              <a:rPr sz="4000" dirty="0"/>
              <a:t>The Internship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78745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A progressive path from data preparation to validated business storytelling.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057400" cy="224028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64008" cy="2240280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8FC"/>
                </a:solidFill>
                <a:latin typeface="Times New Roman"/>
              </a:defRPr>
            </a:pPr>
            <a:r>
              <a:rPr sz="1600" dirty="0"/>
              <a:t>01 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59736"/>
            <a:ext cx="1691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Data </a:t>
            </a:r>
            <a:r>
              <a:rPr sz="2000" dirty="0"/>
              <a:t>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874519"/>
            <a:ext cx="2057400" cy="224028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98648" y="1874519"/>
            <a:ext cx="64008" cy="2240280"/>
          </a:xfrm>
          <a:prstGeom prst="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99816" y="2039112"/>
            <a:ext cx="11844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8FC"/>
                </a:solidFill>
                <a:latin typeface="Times New Roman"/>
              </a:defRPr>
            </a:pPr>
            <a:r>
              <a:rPr sz="1600" dirty="0"/>
              <a:t>02  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459736"/>
            <a:ext cx="1691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EDA </a:t>
            </a:r>
            <a:r>
              <a:rPr sz="2000" dirty="0"/>
              <a:t>+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874519"/>
            <a:ext cx="2057400" cy="224028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202936" y="1874519"/>
            <a:ext cx="64008" cy="2240280"/>
          </a:xfrm>
          <a:prstGeom prst="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04104" y="2039112"/>
            <a:ext cx="13869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8FC"/>
                </a:solidFill>
                <a:latin typeface="Times New Roman"/>
              </a:defRPr>
            </a:pPr>
            <a:r>
              <a:rPr sz="1600" dirty="0"/>
              <a:t>03  Deep 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459736"/>
            <a:ext cx="1691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Segmentation</a:t>
            </a:r>
            <a:endParaRPr sz="2000" dirty="0"/>
          </a:p>
        </p:txBody>
      </p:sp>
      <p:sp>
        <p:nvSpPr>
          <p:cNvPr id="18" name="Rounded Rectangle 17"/>
          <p:cNvSpPr/>
          <p:nvPr/>
        </p:nvSpPr>
        <p:spPr>
          <a:xfrm>
            <a:off x="7507224" y="1874519"/>
            <a:ext cx="2057400" cy="224028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07224" y="1874519"/>
            <a:ext cx="64008" cy="2240280"/>
          </a:xfrm>
          <a:prstGeom prst="rect">
            <a:avLst/>
          </a:prstGeom>
          <a:solidFill>
            <a:srgbClr val="E8B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08392" y="2039112"/>
            <a:ext cx="121206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8FC"/>
                </a:solidFill>
                <a:latin typeface="Times New Roman"/>
              </a:defRPr>
            </a:pPr>
            <a:r>
              <a:rPr sz="1600" dirty="0"/>
              <a:t>04 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2459736"/>
            <a:ext cx="1691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Statistics</a:t>
            </a:r>
            <a:endParaRPr sz="2000" dirty="0"/>
          </a:p>
        </p:txBody>
      </p:sp>
      <p:sp>
        <p:nvSpPr>
          <p:cNvPr id="22" name="Rounded Rectangle 21"/>
          <p:cNvSpPr/>
          <p:nvPr/>
        </p:nvSpPr>
        <p:spPr>
          <a:xfrm>
            <a:off x="9811512" y="1874519"/>
            <a:ext cx="2057400" cy="224028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811512" y="1874519"/>
            <a:ext cx="64008" cy="2240280"/>
          </a:xfrm>
          <a:prstGeom prst="rect">
            <a:avLst/>
          </a:prstGeom>
          <a:solidFill>
            <a:srgbClr val="E15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12680" y="2039112"/>
            <a:ext cx="17251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8FC"/>
                </a:solidFill>
                <a:latin typeface="Times New Roman"/>
              </a:defRPr>
            </a:pPr>
            <a:r>
              <a:rPr sz="1600" dirty="0"/>
              <a:t>05  Communicate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459736"/>
            <a:ext cx="1691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Storytelling</a:t>
            </a:r>
            <a:endParaRPr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681414" y="4800600"/>
            <a:ext cx="87986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B8ADFF"/>
                </a:solidFill>
                <a:latin typeface="Times New Roman"/>
              </a:defRPr>
            </a:pPr>
            <a:r>
              <a:rPr sz="2800" dirty="0"/>
              <a:t>Raw Data → Analysis → Validation → Insight →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2592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 err="1"/>
              <a:t>ApexPlanet</a:t>
            </a:r>
            <a:r>
              <a:rPr sz="1000" dirty="0"/>
              <a:t> Data Analytics Internship • Task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4094" y="6510528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85024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8FC"/>
                </a:solidFill>
                <a:latin typeface="Times New Roman"/>
              </a:defRPr>
            </a:pPr>
            <a:r>
              <a:rPr sz="4000" dirty="0"/>
              <a:t>Task 1 — Data Cleaning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77973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Building a reliable analytical foundation before asking business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394960" cy="434340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4343400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673351"/>
            <a:ext cx="21868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What I worked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93976"/>
            <a:ext cx="5029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400">
                <a:solidFill>
                  <a:srgbClr val="BEBFCD"/>
                </a:solidFill>
                <a:latin typeface="Times New Roman"/>
              </a:defRPr>
            </a:pPr>
            <a:endParaRPr lang="en-US" sz="2000" dirty="0"/>
          </a:p>
          <a:p>
            <a:pPr>
              <a:defRPr sz="14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Missing-value </a:t>
            </a:r>
            <a:r>
              <a:rPr sz="2000" dirty="0"/>
              <a:t>treatment</a:t>
            </a:r>
            <a:br>
              <a:rPr sz="2000" dirty="0"/>
            </a:br>
            <a:r>
              <a:rPr sz="2000" dirty="0"/>
              <a:t>Duplicate and date validation</a:t>
            </a:r>
            <a:br>
              <a:rPr sz="2000" dirty="0"/>
            </a:br>
            <a:r>
              <a:rPr sz="2000" dirty="0"/>
              <a:t>Product/category consistency checks</a:t>
            </a:r>
            <a:br>
              <a:rPr sz="2000" dirty="0"/>
            </a:br>
            <a:r>
              <a:rPr sz="2000" dirty="0" err="1"/>
              <a:t>Total_Sales</a:t>
            </a:r>
            <a:r>
              <a:rPr sz="2000" dirty="0"/>
              <a:t> = Quantity × </a:t>
            </a:r>
            <a:r>
              <a:rPr sz="2000" dirty="0" err="1"/>
              <a:t>Unit_Price</a:t>
            </a:r>
            <a:r>
              <a:rPr sz="2000" dirty="0"/>
              <a:t> validation</a:t>
            </a:r>
            <a:br>
              <a:rPr sz="2000" dirty="0"/>
            </a:br>
            <a:r>
              <a:rPr sz="2000" dirty="0"/>
              <a:t>IQR-based outlier assessment</a:t>
            </a:r>
            <a:br>
              <a:rPr sz="2000" dirty="0"/>
            </a:br>
            <a:r>
              <a:rPr sz="2000" dirty="0" err="1"/>
              <a:t>Order_Month</a:t>
            </a:r>
            <a:r>
              <a:rPr sz="2000" dirty="0"/>
              <a:t> feature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49240" cy="19659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4008" cy="1965960"/>
          </a:xfrm>
          <a:prstGeom prst="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673351"/>
            <a:ext cx="28011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Dataset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93976"/>
            <a:ext cx="49834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endParaRPr lang="en-US" sz="2000" dirty="0"/>
          </a:p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Original</a:t>
            </a:r>
            <a:r>
              <a:rPr sz="2000" dirty="0"/>
              <a:t>: 1,000 × 12 columns</a:t>
            </a:r>
            <a:br>
              <a:rPr sz="2000" dirty="0"/>
            </a:br>
            <a:r>
              <a:rPr sz="2000" dirty="0"/>
              <a:t>Cleaned: 1,000 × 13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2514600" cy="21945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64008" cy="2194560"/>
          </a:xfrm>
          <a:prstGeom prst="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19088" y="3822191"/>
            <a:ext cx="4411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242816"/>
            <a:ext cx="2148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missing </a:t>
            </a:r>
            <a:r>
              <a:rPr sz="2000" dirty="0"/>
              <a:t>Age values handled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657600"/>
            <a:ext cx="2560320" cy="21945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06840" y="3657600"/>
            <a:ext cx="64008" cy="2194560"/>
          </a:xfrm>
          <a:prstGeom prst="rect">
            <a:avLst/>
          </a:prstGeom>
          <a:solidFill>
            <a:srgbClr val="E8B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08008" y="3822191"/>
            <a:ext cx="4411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4242816"/>
            <a:ext cx="2194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missing </a:t>
            </a:r>
            <a:r>
              <a:rPr sz="2000" dirty="0"/>
              <a:t>City values handled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2592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 err="1"/>
              <a:t>ApexPlanet</a:t>
            </a:r>
            <a:r>
              <a:rPr sz="1000" dirty="0"/>
              <a:t> Data Analytics Internship • Task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4094" y="6510528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24828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8FC"/>
                </a:solidFill>
                <a:latin typeface="Times New Roman"/>
              </a:defRPr>
            </a:pPr>
            <a:r>
              <a:rPr sz="4000" dirty="0"/>
              <a:t>Task 2 — EDA, SQL &amp;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65876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Turning the cleaned dataset into measurable business findings.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429000" cy="42519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4251960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673351"/>
            <a:ext cx="11961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93976"/>
            <a:ext cx="3063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EBFCD"/>
                </a:solidFill>
                <a:latin typeface="Times New Roman"/>
              </a:defRPr>
            </a:pPr>
            <a:endParaRPr lang="en-US" dirty="0" smtClean="0"/>
          </a:p>
          <a:p>
            <a:pPr>
              <a:defRPr sz="2000">
                <a:solidFill>
                  <a:srgbClr val="BEBFCD"/>
                </a:solidFill>
                <a:latin typeface="Times New Roman"/>
              </a:defRPr>
            </a:pPr>
            <a:endParaRPr lang="en-US" dirty="0"/>
          </a:p>
          <a:p>
            <a:pPr>
              <a:defRPr sz="2000">
                <a:solidFill>
                  <a:srgbClr val="BEBFCD"/>
                </a:solidFill>
                <a:latin typeface="Times New Roman"/>
              </a:defRPr>
            </a:pPr>
            <a:r>
              <a:rPr dirty="0" smtClean="0"/>
              <a:t>ELECTRONICS</a:t>
            </a:r>
            <a:r>
              <a:rPr dirty="0"/>
              <a:t/>
            </a:r>
            <a:br>
              <a:rPr dirty="0"/>
            </a:br>
            <a:r>
              <a:rPr dirty="0"/>
              <a:t>Highest category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42519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64008" cy="4251960"/>
          </a:xfrm>
          <a:prstGeom prst="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1673351"/>
            <a:ext cx="10633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93976"/>
            <a:ext cx="30632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900">
                <a:solidFill>
                  <a:srgbClr val="BEBFCD"/>
                </a:solidFill>
                <a:latin typeface="Times New Roman"/>
              </a:defRPr>
            </a:pPr>
            <a:endParaRPr lang="en-US" sz="2000" dirty="0"/>
          </a:p>
          <a:p>
            <a:pPr>
              <a:defRPr sz="19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LAPTOP</a:t>
            </a:r>
            <a:r>
              <a:rPr sz="2000" dirty="0"/>
              <a:t/>
            </a:r>
            <a:br>
              <a:rPr sz="2000" dirty="0"/>
            </a:br>
            <a:r>
              <a:rPr sz="2000" dirty="0"/>
              <a:t>Highest sales value among the top 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508760"/>
            <a:ext cx="3429000" cy="42519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47304" y="1508760"/>
            <a:ext cx="64008" cy="4251960"/>
          </a:xfrm>
          <a:prstGeom prst="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48472" y="1673351"/>
            <a:ext cx="205876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Time &amp;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93976"/>
            <a:ext cx="30632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endParaRPr lang="en-US" sz="2000" dirty="0"/>
          </a:p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MARCH </a:t>
            </a:r>
            <a:r>
              <a:rPr sz="2000" dirty="0"/>
              <a:t>2025</a:t>
            </a:r>
            <a:br>
              <a:rPr sz="2000" dirty="0"/>
            </a:br>
            <a:r>
              <a:rPr sz="2000" dirty="0"/>
              <a:t>Highest monthly sales</a:t>
            </a:r>
            <a:br>
              <a:rPr sz="2000" dirty="0"/>
            </a:br>
            <a:r>
              <a:rPr sz="2000" dirty="0"/>
              <a:t/>
            </a:r>
            <a:br>
              <a:rPr sz="2000" dirty="0"/>
            </a:br>
            <a:r>
              <a:rPr sz="2000" dirty="0"/>
              <a:t>PATNA</a:t>
            </a:r>
            <a:br>
              <a:rPr sz="2000" dirty="0"/>
            </a:br>
            <a:r>
              <a:rPr sz="2000" dirty="0"/>
              <a:t>Highest city-level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2592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 err="1"/>
              <a:t>ApexPlanet</a:t>
            </a:r>
            <a:r>
              <a:rPr sz="1000" dirty="0"/>
              <a:t> Data Analytics Internship • Task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4094" y="6510528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971772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8FC"/>
                </a:solidFill>
                <a:latin typeface="Times New Roman"/>
              </a:defRPr>
            </a:pPr>
            <a:r>
              <a:rPr sz="4000" dirty="0"/>
              <a:t>Task 3 — Deep-Dive Analysis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84305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Segmentation and interactive exploration added context to the headline findings.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971800" cy="19202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920240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20894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45–65 Age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02536"/>
            <a:ext cx="2606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EBFCD"/>
                </a:solidFill>
                <a:latin typeface="Times New Roman"/>
              </a:defRPr>
            </a:pPr>
            <a:endParaRPr lang="en-US" dirty="0" smtClean="0"/>
          </a:p>
          <a:p>
            <a:pPr>
              <a:defRPr sz="2000">
                <a:solidFill>
                  <a:srgbClr val="BEBFCD"/>
                </a:solidFill>
                <a:latin typeface="Times New Roman"/>
              </a:defRPr>
            </a:pPr>
            <a:r>
              <a:rPr dirty="0" smtClean="0"/>
              <a:t>41.51</a:t>
            </a:r>
            <a:r>
              <a:rPr dirty="0"/>
              <a:t>% of observed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66160"/>
            <a:ext cx="2971800" cy="19202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3566160"/>
            <a:ext cx="64008" cy="1920240"/>
          </a:xfrm>
          <a:prstGeom prst="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8" y="3730752"/>
            <a:ext cx="20297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30–65 Combined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151376"/>
            <a:ext cx="2606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EBFCD"/>
                </a:solidFill>
                <a:latin typeface="Times New Roman"/>
              </a:defRPr>
            </a:pPr>
            <a:endParaRPr lang="en-US" dirty="0" smtClean="0"/>
          </a:p>
          <a:p>
            <a:pPr>
              <a:defRPr sz="2000">
                <a:solidFill>
                  <a:srgbClr val="BEBFCD"/>
                </a:solidFill>
                <a:latin typeface="Times New Roman"/>
              </a:defRPr>
            </a:pPr>
            <a:r>
              <a:rPr dirty="0" smtClean="0"/>
              <a:t>77.58</a:t>
            </a:r>
            <a:r>
              <a:rPr dirty="0"/>
              <a:t>% of observed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1417320"/>
            <a:ext cx="2971800" cy="19202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94760" y="1417320"/>
            <a:ext cx="64008" cy="1920240"/>
          </a:xfrm>
          <a:prstGeom prst="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95928" y="1581912"/>
            <a:ext cx="82586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Patna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002536"/>
            <a:ext cx="2606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14.94</a:t>
            </a:r>
            <a:r>
              <a:rPr sz="2000" dirty="0"/>
              <a:t>% city-level sales contribution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566160"/>
            <a:ext cx="2971800" cy="19202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94760" y="3566160"/>
            <a:ext cx="64008" cy="1920240"/>
          </a:xfrm>
          <a:prstGeom prst="rect">
            <a:avLst/>
          </a:prstGeom>
          <a:solidFill>
            <a:srgbClr val="E8B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995928" y="3730752"/>
            <a:ext cx="140314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Electronics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28" y="4151376"/>
            <a:ext cx="2606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36.43</a:t>
            </a:r>
            <a:r>
              <a:rPr sz="2000" dirty="0"/>
              <a:t>% category contribution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1417320"/>
            <a:ext cx="4572000" cy="406908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95160" y="1417320"/>
            <a:ext cx="64008" cy="4069080"/>
          </a:xfrm>
          <a:prstGeom prst="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96328" y="1581912"/>
            <a:ext cx="26548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Interactive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2002536"/>
            <a:ext cx="4206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2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Total </a:t>
            </a:r>
            <a:r>
              <a:rPr sz="2000" dirty="0"/>
              <a:t>Sales: approximately ₹13.94 </a:t>
            </a:r>
            <a:r>
              <a:rPr sz="2000" dirty="0" err="1"/>
              <a:t>crore</a:t>
            </a:r>
            <a:r>
              <a:rPr sz="2000" dirty="0"/>
              <a:t/>
            </a:r>
            <a:br>
              <a:rPr sz="2000" dirty="0"/>
            </a:br>
            <a:r>
              <a:rPr sz="2000" dirty="0"/>
              <a:t/>
            </a:r>
            <a:br>
              <a:rPr sz="2000" dirty="0"/>
            </a:br>
            <a:r>
              <a:rPr sz="2000" dirty="0"/>
              <a:t>Looker Studio dashboard with category-level filtering and supporting KPI views.</a:t>
            </a:r>
            <a:br>
              <a:rPr sz="2000" dirty="0"/>
            </a:br>
            <a:r>
              <a:rPr sz="2000" dirty="0"/>
              <a:t/>
            </a:r>
            <a:br>
              <a:rPr sz="2000" dirty="0"/>
            </a:br>
            <a:r>
              <a:rPr lang="en-US" sz="2000" dirty="0" smtClean="0">
                <a:hlinkClick r:id="rId2"/>
              </a:rPr>
              <a:t>Open </a:t>
            </a:r>
            <a:r>
              <a:rPr lang="en-US" sz="2000" dirty="0">
                <a:hlinkClick r:id="rId2"/>
              </a:rPr>
              <a:t>Interactive Looker Studio </a:t>
            </a:r>
            <a:r>
              <a:rPr lang="en-US" sz="2000" dirty="0" smtClean="0">
                <a:hlinkClick r:id="rId2"/>
              </a:rPr>
              <a:t>Dashboard</a:t>
            </a:r>
            <a:endParaRPr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2592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 err="1"/>
              <a:t>ApexPlanet</a:t>
            </a:r>
            <a:r>
              <a:rPr sz="1000" dirty="0"/>
              <a:t> Data Analytics Internship • Task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4094" y="6510528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69260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8FC"/>
                </a:solidFill>
                <a:latin typeface="Times New Roman"/>
              </a:defRPr>
            </a:pPr>
            <a:r>
              <a:rPr sz="4000" dirty="0"/>
              <a:t>Task 4 — Statistical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88312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Testing whether the observed male–female sales difference is statistically supported.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0972800" cy="91440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64008" cy="914400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21691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Business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10607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BFCD"/>
                </a:solidFill>
                <a:latin typeface="Times New Roman"/>
              </a:defRPr>
            </a:pPr>
            <a:r>
              <a:rPr sz="1600" dirty="0"/>
              <a:t>Is there a statistically significant difference in average Total Sales between male and female sales records?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06040"/>
            <a:ext cx="3337560" cy="26517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2606040"/>
            <a:ext cx="64008" cy="2651760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8" y="2770632"/>
            <a:ext cx="98135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Female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191256"/>
            <a:ext cx="2971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489 </a:t>
            </a:r>
            <a:r>
              <a:rPr sz="2000" dirty="0"/>
              <a:t>records</a:t>
            </a:r>
            <a:br>
              <a:rPr sz="2000" dirty="0"/>
            </a:br>
            <a:r>
              <a:rPr sz="2000" dirty="0"/>
              <a:t>Mean: ₹1,36,883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606040"/>
            <a:ext cx="3337560" cy="26517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34840" y="2606040"/>
            <a:ext cx="64008" cy="2651760"/>
          </a:xfrm>
          <a:prstGeom prst="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36007" y="2770632"/>
            <a:ext cx="7393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Male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3191256"/>
            <a:ext cx="2971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8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511 </a:t>
            </a:r>
            <a:r>
              <a:rPr sz="2000" dirty="0"/>
              <a:t>records</a:t>
            </a:r>
            <a:br>
              <a:rPr sz="2000" dirty="0"/>
            </a:br>
            <a:r>
              <a:rPr sz="2000" dirty="0"/>
              <a:t>Mean: ₹1,41,807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606040"/>
            <a:ext cx="3291840" cy="26517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5320" y="2606040"/>
            <a:ext cx="64008" cy="2651760"/>
          </a:xfrm>
          <a:prstGeom prst="rect">
            <a:avLst/>
          </a:prstGeom>
          <a:solidFill>
            <a:srgbClr val="E8B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76488" y="2770632"/>
            <a:ext cx="16548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Welch's t-test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191256"/>
            <a:ext cx="29260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4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p-value</a:t>
            </a:r>
            <a:r>
              <a:rPr sz="2000" dirty="0"/>
              <a:t>: 0.4950</a:t>
            </a:r>
            <a:br>
              <a:rPr sz="2000" dirty="0"/>
            </a:br>
            <a:r>
              <a:rPr sz="2000" dirty="0"/>
              <a:t>95% CI: −₹19,080 to ₹9,232</a:t>
            </a:r>
            <a:br>
              <a:rPr sz="2000" dirty="0"/>
            </a:br>
            <a:r>
              <a:rPr sz="2000" dirty="0"/>
              <a:t>Cohen’s d: −0.043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935" y="5532120"/>
            <a:ext cx="1116421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B8ADFF"/>
                </a:solidFill>
                <a:latin typeface="Times New Roman"/>
              </a:defRPr>
            </a:pPr>
            <a:r>
              <a:rPr sz="2000" dirty="0"/>
              <a:t>Result: Fail to reject H₀ — the dataset does not provide sufficient evidence of a significant difference.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2592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 err="1"/>
              <a:t>ApexPlanet</a:t>
            </a:r>
            <a:r>
              <a:rPr sz="1000" dirty="0"/>
              <a:t> Data Analytics Internship • Task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4094" y="6510528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/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-9144"/>
            <a:ext cx="12191695" cy="73152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27699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8FC"/>
                </a:solidFill>
                <a:latin typeface="Times New Roman"/>
              </a:defRPr>
            </a:pPr>
            <a:r>
              <a:rPr sz="4000" dirty="0"/>
              <a:t>From Analysis to 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74334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The capstone connects analytical findings with practical interpretation.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12344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234440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28907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Electronics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02536"/>
            <a:ext cx="49377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Monitor category-level performance and product mix.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5303520" cy="12344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2834640"/>
            <a:ext cx="64008" cy="1234440"/>
          </a:xfrm>
          <a:prstGeom prst="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22365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Pricing + Quantity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19856"/>
            <a:ext cx="49377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Analyze both factors together when understanding sales.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51960"/>
            <a:ext cx="5303520" cy="12344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4251960"/>
            <a:ext cx="64008" cy="1234440"/>
          </a:xfrm>
          <a:prstGeom prst="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8" y="4416552"/>
            <a:ext cx="21707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Age 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837176"/>
            <a:ext cx="49377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Useful for targeting, but validate campaigns before acting.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5303520" cy="12344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64008" cy="1234440"/>
          </a:xfrm>
          <a:prstGeom prst="rect">
            <a:avLst/>
          </a:prstGeom>
          <a:solidFill>
            <a:srgbClr val="E8B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4807" y="1581912"/>
            <a:ext cx="10102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Gender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2002536"/>
            <a:ext cx="49377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Not statistically validated as a differentiator in this dataset.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834640"/>
            <a:ext cx="5303520" cy="26517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64008" cy="2651760"/>
          </a:xfrm>
          <a:prstGeom prst="rect">
            <a:avLst/>
          </a:prstGeom>
          <a:solidFill>
            <a:srgbClr val="E15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64807" y="2999232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8FC"/>
                </a:solidFill>
                <a:latin typeface="Times New Roman"/>
              </a:defRPr>
            </a:pPr>
            <a:r>
              <a:rPr dirty="0"/>
              <a:t>Key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3419856"/>
            <a:ext cx="49377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Visible differences in data should not automatically be treated as validated business drivers.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6334" y="5086290"/>
            <a:ext cx="406669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8ADFF"/>
                </a:solidFill>
                <a:latin typeface="Times New Roman"/>
              </a:defRPr>
            </a:pPr>
            <a:r>
              <a:rPr sz="2000" dirty="0"/>
              <a:t>Observe → Test → Interpret →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2592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 err="1"/>
              <a:t>ApexPlanet</a:t>
            </a:r>
            <a:r>
              <a:rPr sz="1000" dirty="0"/>
              <a:t> Data Analytics Internship • Task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4094" y="6510528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803938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8FC"/>
                </a:solidFill>
                <a:latin typeface="Times New Roman"/>
              </a:defRPr>
            </a:pPr>
            <a:r>
              <a:rPr sz="4000" dirty="0"/>
              <a:t>Skills, Learnings &amp; Final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54393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/>
              <a:t>What the internship added beyond individual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257800" cy="448056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64008" cy="4480560"/>
          </a:xfrm>
          <a:prstGeom prst="rect">
            <a:avLst/>
          </a:prstGeom>
          <a:solidFill>
            <a:srgbClr val="736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18891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Technical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48920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Python </a:t>
            </a:r>
            <a:r>
              <a:rPr sz="2000" dirty="0"/>
              <a:t>• Pandas • </a:t>
            </a:r>
            <a:r>
              <a:rPr sz="2000" dirty="0" err="1"/>
              <a:t>NumPy</a:t>
            </a:r>
            <a:r>
              <a:rPr sz="2000" dirty="0"/>
              <a:t/>
            </a:r>
            <a:br>
              <a:rPr sz="2000" dirty="0"/>
            </a:br>
            <a:r>
              <a:rPr sz="2000" dirty="0"/>
              <a:t>SQL • MySQL</a:t>
            </a:r>
            <a:br>
              <a:rPr sz="2000" dirty="0"/>
            </a:br>
            <a:r>
              <a:rPr sz="2000" dirty="0" err="1"/>
              <a:t>Matplotlib</a:t>
            </a:r>
            <a:r>
              <a:rPr sz="2000" dirty="0"/>
              <a:t> • </a:t>
            </a:r>
            <a:r>
              <a:rPr sz="2000" dirty="0" err="1"/>
              <a:t>Seaborn</a:t>
            </a:r>
            <a:r>
              <a:rPr sz="2000" dirty="0"/>
              <a:t/>
            </a:r>
            <a:br>
              <a:rPr sz="2000" dirty="0"/>
            </a:br>
            <a:r>
              <a:rPr sz="2000" dirty="0"/>
              <a:t>Google Looker Studio</a:t>
            </a:r>
            <a:br>
              <a:rPr sz="2000" dirty="0"/>
            </a:br>
            <a:r>
              <a:rPr sz="2000" dirty="0"/>
              <a:t>Statistical Analysis • </a:t>
            </a:r>
            <a:r>
              <a:rPr sz="2000" dirty="0" err="1"/>
              <a:t>SciPy</a:t>
            </a:r>
            <a:r>
              <a:rPr sz="2000" dirty="0"/>
              <a:t/>
            </a:r>
            <a:br>
              <a:rPr sz="2000" dirty="0"/>
            </a:br>
            <a:r>
              <a:rPr sz="2000" dirty="0"/>
              <a:t>PowerPoint • </a:t>
            </a:r>
            <a:r>
              <a:rPr sz="2000" dirty="0" err="1"/>
              <a:t>Git</a:t>
            </a:r>
            <a:r>
              <a:rPr sz="2000" dirty="0"/>
              <a:t> &amp; </a:t>
            </a:r>
            <a:r>
              <a:rPr sz="2000" dirty="0" err="1"/>
              <a:t>GitHub</a:t>
            </a:r>
            <a:endParaRPr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440680" cy="214884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64008" cy="2148840"/>
          </a:xfrm>
          <a:prstGeom prst="rect">
            <a:avLst/>
          </a:prstGeom>
          <a:solidFill>
            <a:srgbClr val="53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7648" y="1536192"/>
            <a:ext cx="18004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Key Learnings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956816"/>
            <a:ext cx="50749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3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Data </a:t>
            </a:r>
            <a:r>
              <a:rPr sz="2000" dirty="0"/>
              <a:t>quality comes first.</a:t>
            </a:r>
            <a:br>
              <a:rPr sz="2000" dirty="0"/>
            </a:br>
            <a:r>
              <a:rPr sz="2000" dirty="0"/>
              <a:t>Business questions should guide analysis.</a:t>
            </a:r>
            <a:br>
              <a:rPr sz="2000" dirty="0"/>
            </a:br>
            <a:r>
              <a:rPr sz="2000" dirty="0"/>
              <a:t>Correlation ≠ causation.</a:t>
            </a:r>
            <a:br>
              <a:rPr sz="2000" dirty="0"/>
            </a:br>
            <a:r>
              <a:rPr sz="2000" dirty="0"/>
              <a:t>Statistical validation adds rigor.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440680" cy="2103120"/>
          </a:xfrm>
          <a:prstGeom prst="roundRect">
            <a:avLst/>
          </a:prstGeom>
          <a:solidFill>
            <a:srgbClr val="1C1F37"/>
          </a:solidFill>
          <a:ln>
            <a:solidFill>
              <a:srgbClr val="3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26480" y="3749039"/>
            <a:ext cx="64008" cy="2103120"/>
          </a:xfrm>
          <a:prstGeom prst="rect">
            <a:avLst/>
          </a:prstGeom>
          <a:solidFill>
            <a:srgbClr val="50B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7648" y="3913631"/>
            <a:ext cx="19271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8F8FC"/>
                </a:solidFill>
                <a:latin typeface="Times New Roman"/>
              </a:defRPr>
            </a:pPr>
            <a:r>
              <a:rPr sz="2000" dirty="0"/>
              <a:t>Final Reflection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334255"/>
            <a:ext cx="5074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endParaRPr lang="en-US" sz="2000" dirty="0" smtClean="0"/>
          </a:p>
          <a:p>
            <a:pPr>
              <a:defRPr sz="1600">
                <a:solidFill>
                  <a:srgbClr val="BEBFCD"/>
                </a:solidFill>
                <a:latin typeface="Times New Roman"/>
              </a:defRPr>
            </a:pPr>
            <a:r>
              <a:rPr sz="2000" dirty="0" smtClean="0"/>
              <a:t>This </a:t>
            </a:r>
            <a:r>
              <a:rPr sz="2000" dirty="0"/>
              <a:t>internship helped me move from simply analyzing data to turning data into structured, evidence-based business insights.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3259" y="6035040"/>
            <a:ext cx="62235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8ADFF"/>
                </a:solidFill>
                <a:latin typeface="Times New Roman"/>
              </a:defRPr>
            </a:pPr>
            <a:r>
              <a:rPr sz="2000" dirty="0"/>
              <a:t>Insights → Decisions → Measurement →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2592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 err="1"/>
              <a:t>ApexPlanet</a:t>
            </a:r>
            <a:r>
              <a:rPr sz="1000" dirty="0"/>
              <a:t> Data Analytics Internship • Task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4094" y="6510528"/>
            <a:ext cx="24878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BFCD"/>
                </a:solidFill>
                <a:latin typeface="Times New Roman"/>
              </a:defRPr>
            </a:pPr>
            <a:r>
              <a:rPr sz="1000" dirty="0"/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454</Words>
  <Application>Microsoft Office PowerPoint</Application>
  <PresentationFormat>Widescreen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22</cp:revision>
  <dcterms:created xsi:type="dcterms:W3CDTF">2013-01-27T09:14:16Z</dcterms:created>
  <dcterms:modified xsi:type="dcterms:W3CDTF">2026-10-04T11:29:27Z</dcterms:modified>
  <cp:category/>
</cp:coreProperties>
</file>