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629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462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68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246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881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10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948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63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860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30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44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794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88725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7979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6377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49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8337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150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6886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studio.google.com/reporting/87dbed6e-5b07-482f-a205-7854e8954b54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256032" cy="109728"/>
          </a:xfrm>
          <a:prstGeom prst="round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24127" y="640080"/>
            <a:ext cx="256032" cy="109728"/>
          </a:xfrm>
          <a:prstGeom prst="round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408176" y="640080"/>
            <a:ext cx="256032" cy="109728"/>
          </a:xfrm>
          <a:prstGeom prst="round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8496813" cy="11541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8FC"/>
                </a:solidFill>
                <a:latin typeface="Times New Roman"/>
              </a:defRPr>
            </a:pPr>
            <a:r>
              <a:rPr sz="4000" dirty="0" err="1"/>
              <a:t>ApexPlanet</a:t>
            </a:r>
            <a:r>
              <a:rPr sz="4000" dirty="0"/>
              <a:t> Data Analytics Internship</a:t>
            </a:r>
          </a:p>
          <a:p>
            <a:pPr>
              <a:defRPr sz="2900" b="1">
                <a:solidFill>
                  <a:srgbClr val="B8ADFF"/>
                </a:solidFill>
                <a:latin typeface="Times New Roman"/>
              </a:defRPr>
            </a:pPr>
            <a:r>
              <a:rPr sz="2800" dirty="0"/>
              <a:t>From Raw Data to Business </a:t>
            </a:r>
            <a:r>
              <a:rPr sz="2800" dirty="0" smtClean="0"/>
              <a:t>Insights</a:t>
            </a:r>
            <a:endParaRPr sz="2800" dirty="0"/>
          </a:p>
        </p:txBody>
      </p:sp>
      <p:sp>
        <p:nvSpPr>
          <p:cNvPr id="8" name="TextBox 7"/>
          <p:cNvSpPr txBox="1"/>
          <p:nvPr/>
        </p:nvSpPr>
        <p:spPr>
          <a:xfrm>
            <a:off x="713232" y="2971800"/>
            <a:ext cx="4238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Capstone Portfolio &amp; </a:t>
            </a:r>
            <a:r>
              <a:rPr sz="2000" dirty="0" smtClean="0"/>
              <a:t>Learning </a:t>
            </a:r>
            <a:r>
              <a:rPr sz="2000" dirty="0"/>
              <a:t>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074920"/>
            <a:ext cx="338919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8FC"/>
                </a:solidFill>
                <a:latin typeface="Times New Roman"/>
              </a:defRPr>
            </a:pPr>
            <a:r>
              <a:rPr sz="2400" dirty="0" err="1"/>
              <a:t>Anugrah</a:t>
            </a:r>
            <a:r>
              <a:rPr sz="2400" dirty="0"/>
              <a:t> </a:t>
            </a:r>
            <a:r>
              <a:rPr sz="2400" dirty="0" err="1"/>
              <a:t>Dubey</a:t>
            </a:r>
            <a:endParaRPr sz="2400" dirty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1600" dirty="0" err="1"/>
              <a:t>B.Tech</a:t>
            </a:r>
            <a:r>
              <a:rPr sz="1600" dirty="0"/>
              <a:t> Computer Science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3977639"/>
            <a:ext cx="2560320" cy="15087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732520" y="3977639"/>
            <a:ext cx="64008" cy="150876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33688" y="4142231"/>
            <a:ext cx="222689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Portfolio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4562855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1600" dirty="0"/>
              <a:t>Tasks 01–04</a:t>
            </a:r>
            <a:br>
              <a:rPr sz="1600" dirty="0"/>
            </a:br>
            <a:r>
              <a:rPr sz="1600" dirty="0"/>
              <a:t>Dataset: 1,000 records</a:t>
            </a:r>
            <a:br>
              <a:rPr sz="1600" dirty="0"/>
            </a:br>
            <a:r>
              <a:rPr sz="1600" dirty="0"/>
              <a:t>Focus: Data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540244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The Internship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78745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A progressive path from data preparation to validated business storytelling.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057400" cy="22402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64008" cy="224028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100540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1600" dirty="0"/>
              <a:t>01 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1691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Data </a:t>
            </a:r>
            <a:r>
              <a:rPr sz="2000" dirty="0"/>
              <a:t>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874519"/>
            <a:ext cx="2057400" cy="22402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8648" y="1874519"/>
            <a:ext cx="64008" cy="224028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99816" y="2039112"/>
            <a:ext cx="11844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1600" dirty="0"/>
              <a:t>02  Explore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2459736"/>
            <a:ext cx="1691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EDA </a:t>
            </a:r>
            <a:r>
              <a:rPr sz="2000" dirty="0"/>
              <a:t>+ 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02936" y="1874519"/>
            <a:ext cx="2057400" cy="22402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202936" y="1874519"/>
            <a:ext cx="64008" cy="224028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04104" y="2039112"/>
            <a:ext cx="138691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1600" dirty="0"/>
              <a:t>03  Deep Dive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104" y="2459736"/>
            <a:ext cx="1691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Segmentation</a:t>
            </a:r>
            <a:endParaRPr sz="2000" dirty="0"/>
          </a:p>
        </p:txBody>
      </p:sp>
      <p:sp>
        <p:nvSpPr>
          <p:cNvPr id="18" name="Rounded Rectangle 17"/>
          <p:cNvSpPr/>
          <p:nvPr/>
        </p:nvSpPr>
        <p:spPr>
          <a:xfrm>
            <a:off x="7507224" y="1874519"/>
            <a:ext cx="2057400" cy="22402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507224" y="1874519"/>
            <a:ext cx="64008" cy="2240280"/>
          </a:xfrm>
          <a:prstGeom prst="rect">
            <a:avLst/>
          </a:prstGeom>
          <a:solidFill>
            <a:srgbClr val="E8B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708392" y="2039112"/>
            <a:ext cx="121206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1600" dirty="0"/>
              <a:t>04  Validate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2459736"/>
            <a:ext cx="1691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Statistics</a:t>
            </a:r>
            <a:endParaRPr sz="2000" dirty="0"/>
          </a:p>
        </p:txBody>
      </p:sp>
      <p:sp>
        <p:nvSpPr>
          <p:cNvPr id="22" name="Rounded Rectangle 21"/>
          <p:cNvSpPr/>
          <p:nvPr/>
        </p:nvSpPr>
        <p:spPr>
          <a:xfrm>
            <a:off x="9811512" y="1874519"/>
            <a:ext cx="2057400" cy="22402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811512" y="1874519"/>
            <a:ext cx="64008" cy="2240280"/>
          </a:xfrm>
          <a:prstGeom prst="rect">
            <a:avLst/>
          </a:prstGeom>
          <a:solidFill>
            <a:srgbClr val="E15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012680" y="2039112"/>
            <a:ext cx="172515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1600" dirty="0"/>
              <a:t>05  Communicate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59736"/>
            <a:ext cx="1691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Storytelling</a:t>
            </a:r>
            <a:endParaRPr sz="2000" dirty="0"/>
          </a:p>
        </p:txBody>
      </p:sp>
      <p:sp>
        <p:nvSpPr>
          <p:cNvPr id="26" name="TextBox 25"/>
          <p:cNvSpPr txBox="1"/>
          <p:nvPr/>
        </p:nvSpPr>
        <p:spPr>
          <a:xfrm>
            <a:off x="1681414" y="4800600"/>
            <a:ext cx="87986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100" b="1">
                <a:solidFill>
                  <a:srgbClr val="B8ADFF"/>
                </a:solidFill>
                <a:latin typeface="Times New Roman"/>
              </a:defRPr>
            </a:pPr>
            <a:r>
              <a:rPr sz="2800" dirty="0"/>
              <a:t>Raw Data → Analysis → Validation → Insight →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885024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Task 1 — Data Cleaning &amp;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779732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Building a reliable analytical foundation before asking business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5394960" cy="434340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64008" cy="434340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673351"/>
            <a:ext cx="218681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What I worked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93976"/>
            <a:ext cx="50292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4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4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Missing-value </a:t>
            </a:r>
            <a:r>
              <a:rPr sz="2000" dirty="0"/>
              <a:t>treatment</a:t>
            </a:r>
            <a:br>
              <a:rPr sz="2000" dirty="0"/>
            </a:br>
            <a:r>
              <a:rPr sz="2000" dirty="0"/>
              <a:t>Duplicate and date validation</a:t>
            </a:r>
            <a:br>
              <a:rPr sz="2000" dirty="0"/>
            </a:br>
            <a:r>
              <a:rPr sz="2000" dirty="0"/>
              <a:t>Product/category consistency checks</a:t>
            </a:r>
            <a:br>
              <a:rPr sz="2000" dirty="0"/>
            </a:br>
            <a:r>
              <a:rPr sz="2000" dirty="0" err="1"/>
              <a:t>Total_Sales</a:t>
            </a:r>
            <a:r>
              <a:rPr sz="2000" dirty="0"/>
              <a:t> = Quantity × </a:t>
            </a:r>
            <a:r>
              <a:rPr sz="2000" dirty="0" err="1"/>
              <a:t>Unit_Price</a:t>
            </a:r>
            <a:r>
              <a:rPr sz="2000" dirty="0"/>
              <a:t> validation</a:t>
            </a:r>
            <a:br>
              <a:rPr sz="2000" dirty="0"/>
            </a:br>
            <a:r>
              <a:rPr sz="2000" dirty="0"/>
              <a:t>IQR-based outlier assessment</a:t>
            </a:r>
            <a:br>
              <a:rPr sz="2000" dirty="0"/>
            </a:br>
            <a:r>
              <a:rPr sz="2000" dirty="0" err="1"/>
              <a:t>Order_Month</a:t>
            </a:r>
            <a:r>
              <a:rPr sz="2000" dirty="0"/>
              <a:t> feature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49240" cy="19659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17920" y="1508760"/>
            <a:ext cx="64008" cy="196596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19088" y="1673351"/>
            <a:ext cx="280115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Dataset Transformation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093976"/>
            <a:ext cx="49834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Original</a:t>
            </a:r>
            <a:r>
              <a:rPr sz="2000" dirty="0"/>
              <a:t>: 1,000 × 12 columns</a:t>
            </a:r>
            <a:br>
              <a:rPr sz="2000" dirty="0"/>
            </a:br>
            <a:r>
              <a:rPr sz="2000" dirty="0"/>
              <a:t>Cleaned: 1,000 × 13 columns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657600"/>
            <a:ext cx="2514600" cy="21945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64008" cy="219456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19088" y="3822191"/>
            <a:ext cx="4411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242816"/>
            <a:ext cx="21488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missing </a:t>
            </a:r>
            <a:r>
              <a:rPr sz="2000" dirty="0"/>
              <a:t>Age values handled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3657600"/>
            <a:ext cx="2560320" cy="21945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06840" y="3657600"/>
            <a:ext cx="64008" cy="2194560"/>
          </a:xfrm>
          <a:prstGeom prst="rect">
            <a:avLst/>
          </a:prstGeom>
          <a:solidFill>
            <a:srgbClr val="E8B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08008" y="3822191"/>
            <a:ext cx="44114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8008" y="4242816"/>
            <a:ext cx="21945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missing </a:t>
            </a:r>
            <a:r>
              <a:rPr sz="2000" dirty="0"/>
              <a:t>City values handled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824828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Task 2 — EDA, SQL &amp;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65876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Turning the cleaned dataset into measurable business findings.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508760"/>
            <a:ext cx="3429000" cy="42519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64008" cy="425196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673351"/>
            <a:ext cx="11961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93976"/>
            <a:ext cx="30632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endParaRPr lang="en-US" dirty="0" smtClean="0"/>
          </a:p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endParaRPr lang="en-US" dirty="0"/>
          </a:p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r>
              <a:rPr dirty="0" smtClean="0"/>
              <a:t>ELECTRONICS</a:t>
            </a:r>
            <a:r>
              <a:rPr dirty="0"/>
              <a:t/>
            </a:r>
            <a:br>
              <a:rPr dirty="0"/>
            </a:br>
            <a:r>
              <a:rPr dirty="0"/>
              <a:t>Highest category sales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508760"/>
            <a:ext cx="3429000" cy="42519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70832" y="1508760"/>
            <a:ext cx="64008" cy="425196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0" y="1673351"/>
            <a:ext cx="106330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93976"/>
            <a:ext cx="30632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9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9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LAPTOP</a:t>
            </a:r>
            <a:r>
              <a:rPr sz="2000" dirty="0"/>
              <a:t/>
            </a:r>
            <a:br>
              <a:rPr sz="2000" dirty="0"/>
            </a:br>
            <a:r>
              <a:rPr sz="2000" dirty="0"/>
              <a:t>Highest sales value among the top products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508760"/>
            <a:ext cx="3429000" cy="42519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47304" y="1508760"/>
            <a:ext cx="64008" cy="425196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48472" y="1673351"/>
            <a:ext cx="205876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Time &amp;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093976"/>
            <a:ext cx="306324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MARCH </a:t>
            </a:r>
            <a:r>
              <a:rPr sz="2000" dirty="0"/>
              <a:t>2025</a:t>
            </a:r>
            <a:br>
              <a:rPr sz="2000" dirty="0"/>
            </a:br>
            <a:r>
              <a:rPr sz="2000" dirty="0"/>
              <a:t>Highest monthly sales</a:t>
            </a:r>
            <a:br>
              <a:rPr sz="2000" dirty="0"/>
            </a:br>
            <a:r>
              <a:rPr sz="2000" dirty="0"/>
              <a:t/>
            </a:r>
            <a:br>
              <a:rPr sz="2000" dirty="0"/>
            </a:br>
            <a:r>
              <a:rPr sz="2000" dirty="0"/>
              <a:t>PATNA</a:t>
            </a:r>
            <a:br>
              <a:rPr sz="2000" dirty="0"/>
            </a:br>
            <a:r>
              <a:rPr sz="2000" dirty="0"/>
              <a:t>Highest city-level sales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971772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Task 3 — Deep-Dive Analysis &amp;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84305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Segmentation and interactive exploration added context to the headline findings.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971800" cy="19202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581912"/>
            <a:ext cx="208948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45–65 Age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02536"/>
            <a:ext cx="2606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endParaRPr lang="en-US" dirty="0" smtClean="0"/>
          </a:p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r>
              <a:rPr dirty="0" smtClean="0"/>
              <a:t>41.51</a:t>
            </a:r>
            <a:r>
              <a:rPr dirty="0"/>
              <a:t>% of observed sales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66160"/>
            <a:ext cx="2971800" cy="19202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94360" y="3566160"/>
            <a:ext cx="64008" cy="192024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95528" y="3730752"/>
            <a:ext cx="202972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30–65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151376"/>
            <a:ext cx="2606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endParaRPr lang="en-US" dirty="0" smtClean="0"/>
          </a:p>
          <a:p>
            <a:pPr>
              <a:defRPr sz="2000">
                <a:solidFill>
                  <a:srgbClr val="BEBFCD"/>
                </a:solidFill>
                <a:latin typeface="Times New Roman"/>
              </a:defRPr>
            </a:pPr>
            <a:r>
              <a:rPr dirty="0" smtClean="0"/>
              <a:t>77.58</a:t>
            </a:r>
            <a:r>
              <a:rPr dirty="0"/>
              <a:t>% of observed sales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1417320"/>
            <a:ext cx="2971800" cy="19202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794760" y="1417320"/>
            <a:ext cx="64008" cy="192024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95928" y="1581912"/>
            <a:ext cx="82586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Patna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5928" y="2002536"/>
            <a:ext cx="2606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14.94</a:t>
            </a:r>
            <a:r>
              <a:rPr sz="2000" dirty="0"/>
              <a:t>% city-level sales contribution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94760" y="3566160"/>
            <a:ext cx="2971800" cy="19202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794760" y="3566160"/>
            <a:ext cx="64008" cy="1920240"/>
          </a:xfrm>
          <a:prstGeom prst="rect">
            <a:avLst/>
          </a:prstGeom>
          <a:solidFill>
            <a:srgbClr val="E8B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95928" y="3730752"/>
            <a:ext cx="140314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Electronics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28" y="4151376"/>
            <a:ext cx="2606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36.43</a:t>
            </a:r>
            <a:r>
              <a:rPr sz="2000" dirty="0"/>
              <a:t>% category contribution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1417320"/>
            <a:ext cx="4572000" cy="406908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995160" y="1417320"/>
            <a:ext cx="64008" cy="406908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96328" y="1581912"/>
            <a:ext cx="26548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Interactive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2002536"/>
            <a:ext cx="42062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Total </a:t>
            </a:r>
            <a:r>
              <a:rPr sz="2000" dirty="0"/>
              <a:t>Sales: approximately ₹13.94 </a:t>
            </a:r>
            <a:r>
              <a:rPr sz="2000" dirty="0" err="1"/>
              <a:t>crore</a:t>
            </a:r>
            <a:r>
              <a:rPr sz="2000" dirty="0"/>
              <a:t/>
            </a:r>
            <a:br>
              <a:rPr sz="2000" dirty="0"/>
            </a:br>
            <a:r>
              <a:rPr sz="2000" dirty="0"/>
              <a:t/>
            </a:r>
            <a:br>
              <a:rPr sz="2000" dirty="0"/>
            </a:br>
            <a:r>
              <a:rPr sz="2000" dirty="0"/>
              <a:t>Looker Studio dashboard with category-level filtering and supporting KPI views.</a:t>
            </a:r>
            <a:br>
              <a:rPr sz="2000" dirty="0"/>
            </a:br>
            <a:r>
              <a:rPr sz="2000" dirty="0"/>
              <a:t/>
            </a:r>
            <a:br>
              <a:rPr sz="2000" dirty="0"/>
            </a:br>
            <a:r>
              <a:rPr lang="en-US" sz="2000" dirty="0" smtClean="0">
                <a:hlinkClick r:id="rId2"/>
              </a:rPr>
              <a:t>Open </a:t>
            </a:r>
            <a:r>
              <a:rPr lang="en-US" sz="2000" dirty="0">
                <a:hlinkClick r:id="rId2"/>
              </a:rPr>
              <a:t>Interactive Looker Studio </a:t>
            </a:r>
            <a:r>
              <a:rPr lang="en-US" sz="2000" dirty="0" smtClean="0">
                <a:hlinkClick r:id="rId2"/>
              </a:rPr>
              <a:t>Dashboard</a:t>
            </a:r>
            <a:endParaRPr sz="2000" dirty="0"/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692606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Task 4 —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883120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Testing whether the observed male–female sales difference is statistically supported.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0972800" cy="91440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371600"/>
            <a:ext cx="64008" cy="91440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536192"/>
            <a:ext cx="216918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Business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10607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1600" dirty="0"/>
              <a:t>Is there a statistically significant difference in average Total Sales between male and female sales records?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06040"/>
            <a:ext cx="3337560" cy="26517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94360" y="2606040"/>
            <a:ext cx="64008" cy="265176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95528" y="2770632"/>
            <a:ext cx="98135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Female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191256"/>
            <a:ext cx="2971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489 </a:t>
            </a:r>
            <a:r>
              <a:rPr sz="2000" dirty="0"/>
              <a:t>records</a:t>
            </a:r>
            <a:br>
              <a:rPr sz="2000" dirty="0"/>
            </a:br>
            <a:r>
              <a:rPr sz="2000" dirty="0"/>
              <a:t>Mean: ₹1,36,883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606040"/>
            <a:ext cx="3337560" cy="26517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34840" y="2606040"/>
            <a:ext cx="64008" cy="265176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36007" y="2770632"/>
            <a:ext cx="73930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Male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3191256"/>
            <a:ext cx="2971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8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511 </a:t>
            </a:r>
            <a:r>
              <a:rPr sz="2000" dirty="0"/>
              <a:t>records</a:t>
            </a:r>
            <a:br>
              <a:rPr sz="2000" dirty="0"/>
            </a:br>
            <a:r>
              <a:rPr sz="2000" dirty="0"/>
              <a:t>Mean: ₹1,41,807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606040"/>
            <a:ext cx="3291840" cy="26517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75320" y="2606040"/>
            <a:ext cx="64008" cy="2651760"/>
          </a:xfrm>
          <a:prstGeom prst="rect">
            <a:avLst/>
          </a:prstGeom>
          <a:solidFill>
            <a:srgbClr val="E8B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76488" y="2770632"/>
            <a:ext cx="165487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Welch's t-test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191256"/>
            <a:ext cx="29260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4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p-value</a:t>
            </a:r>
            <a:r>
              <a:rPr sz="2000" dirty="0"/>
              <a:t>: 0.4950</a:t>
            </a:r>
            <a:br>
              <a:rPr sz="2000" dirty="0"/>
            </a:br>
            <a:r>
              <a:rPr sz="2000" dirty="0"/>
              <a:t>95% CI: −₹19,080 to ₹9,232</a:t>
            </a:r>
            <a:br>
              <a:rPr sz="2000" dirty="0"/>
            </a:br>
            <a:r>
              <a:rPr sz="2000" dirty="0"/>
              <a:t>Cohen’s d: −0.043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935" y="5532120"/>
            <a:ext cx="1116421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B8ADFF"/>
                </a:solidFill>
                <a:latin typeface="Times New Roman"/>
              </a:defRPr>
            </a:pPr>
            <a:r>
              <a:rPr sz="2000" dirty="0"/>
              <a:t>Result: Fail to reject H₀ — the dataset does not provide sufficient evidence of a significant difference.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-9144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27699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From Analysis to 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743344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The capstone connects analytical findings with practical interpretation.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303520" cy="12344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4008" cy="123444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581912"/>
            <a:ext cx="28907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Electronics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002536"/>
            <a:ext cx="49377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Monitor category-level performance and product mix.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34640"/>
            <a:ext cx="5303520" cy="12344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94360" y="2834640"/>
            <a:ext cx="64008" cy="123444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95528" y="2999232"/>
            <a:ext cx="22365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Pricing + Quantity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3419856"/>
            <a:ext cx="49377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Analyze both factors together when understanding sales.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251960"/>
            <a:ext cx="5303520" cy="12344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94360" y="4251960"/>
            <a:ext cx="64008" cy="123444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5528" y="4416552"/>
            <a:ext cx="21707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Age Segmentation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837176"/>
            <a:ext cx="49377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Useful for targeting, but validate campaigns before acting.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417320"/>
            <a:ext cx="5303520" cy="12344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63640" y="1417320"/>
            <a:ext cx="64008" cy="1234440"/>
          </a:xfrm>
          <a:prstGeom prst="rect">
            <a:avLst/>
          </a:prstGeom>
          <a:solidFill>
            <a:srgbClr val="E8B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64807" y="1581912"/>
            <a:ext cx="10102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2002536"/>
            <a:ext cx="493775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Not statistically validated as a differentiator in this dataset.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834640"/>
            <a:ext cx="5303520" cy="26517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63640" y="2834640"/>
            <a:ext cx="64008" cy="2651760"/>
          </a:xfrm>
          <a:prstGeom prst="rect">
            <a:avLst/>
          </a:prstGeom>
          <a:solidFill>
            <a:srgbClr val="E15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64807" y="2999232"/>
            <a:ext cx="4937759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8F8FC"/>
                </a:solidFill>
                <a:latin typeface="Times New Roman"/>
              </a:defRPr>
            </a:pPr>
            <a:r>
              <a:rPr dirty="0"/>
              <a:t>Key Principle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419856"/>
            <a:ext cx="493775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Visible differences in data should not automatically be treated as validated business drivers.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6334" y="5086290"/>
            <a:ext cx="406669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B8ADFF"/>
                </a:solidFill>
                <a:latin typeface="Times New Roman"/>
              </a:defRPr>
            </a:pPr>
            <a:r>
              <a:rPr sz="2000" dirty="0"/>
              <a:t>Observe → Test → Interpret →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803938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8FC"/>
                </a:solidFill>
                <a:latin typeface="Times New Roman"/>
              </a:defRPr>
            </a:pPr>
            <a:r>
              <a:rPr sz="4000" dirty="0"/>
              <a:t>Skills, Learnings &amp; Final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932688"/>
            <a:ext cx="54393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/>
              <a:t>What the internship added beyond individual tasks.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5257800" cy="448056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371600"/>
            <a:ext cx="64008" cy="4480560"/>
          </a:xfrm>
          <a:prstGeom prst="rect">
            <a:avLst/>
          </a:prstGeom>
          <a:solidFill>
            <a:srgbClr val="736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" y="1536192"/>
            <a:ext cx="188917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Technical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489204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Python </a:t>
            </a:r>
            <a:r>
              <a:rPr sz="2000" dirty="0"/>
              <a:t>• Pandas • </a:t>
            </a:r>
            <a:r>
              <a:rPr sz="2000" dirty="0" err="1"/>
              <a:t>NumPy</a:t>
            </a:r>
            <a:r>
              <a:rPr sz="2000" dirty="0"/>
              <a:t/>
            </a:r>
            <a:br>
              <a:rPr sz="2000" dirty="0"/>
            </a:br>
            <a:r>
              <a:rPr sz="2000" dirty="0"/>
              <a:t>SQL • MySQL</a:t>
            </a:r>
            <a:br>
              <a:rPr sz="2000" dirty="0"/>
            </a:br>
            <a:r>
              <a:rPr sz="2000" dirty="0" err="1"/>
              <a:t>Matplotlib</a:t>
            </a:r>
            <a:r>
              <a:rPr sz="2000" dirty="0"/>
              <a:t> • </a:t>
            </a:r>
            <a:r>
              <a:rPr sz="2000" dirty="0" err="1"/>
              <a:t>Seaborn</a:t>
            </a:r>
            <a:r>
              <a:rPr sz="2000" dirty="0"/>
              <a:t/>
            </a:r>
            <a:br>
              <a:rPr sz="2000" dirty="0"/>
            </a:br>
            <a:r>
              <a:rPr sz="2000" dirty="0"/>
              <a:t>Google Looker Studio</a:t>
            </a:r>
            <a:br>
              <a:rPr sz="2000" dirty="0"/>
            </a:br>
            <a:r>
              <a:rPr sz="2000" dirty="0"/>
              <a:t>Statistical Analysis • </a:t>
            </a:r>
            <a:r>
              <a:rPr sz="2000" dirty="0" err="1"/>
              <a:t>SciPy</a:t>
            </a:r>
            <a:r>
              <a:rPr sz="2000" dirty="0"/>
              <a:t/>
            </a:r>
            <a:br>
              <a:rPr sz="2000" dirty="0"/>
            </a:br>
            <a:r>
              <a:rPr sz="2000" dirty="0"/>
              <a:t>PowerPoint • </a:t>
            </a:r>
            <a:r>
              <a:rPr sz="2000" dirty="0" err="1"/>
              <a:t>Git</a:t>
            </a:r>
            <a:r>
              <a:rPr sz="2000" dirty="0"/>
              <a:t> &amp; </a:t>
            </a:r>
            <a:r>
              <a:rPr sz="2000" dirty="0" err="1"/>
              <a:t>GitHub</a:t>
            </a:r>
            <a:endParaRPr sz="2000" dirty="0"/>
          </a:p>
        </p:txBody>
      </p:sp>
      <p:sp>
        <p:nvSpPr>
          <p:cNvPr id="10" name="Rounded Rectangle 9"/>
          <p:cNvSpPr/>
          <p:nvPr/>
        </p:nvSpPr>
        <p:spPr>
          <a:xfrm>
            <a:off x="6126480" y="1371600"/>
            <a:ext cx="5440680" cy="214884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26480" y="1371600"/>
            <a:ext cx="64008" cy="2148840"/>
          </a:xfrm>
          <a:prstGeom prst="rect">
            <a:avLst/>
          </a:prstGeom>
          <a:solidFill>
            <a:srgbClr val="539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27648" y="1536192"/>
            <a:ext cx="180049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Key Learnings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1956816"/>
            <a:ext cx="507492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3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Data </a:t>
            </a:r>
            <a:r>
              <a:rPr sz="2000" dirty="0"/>
              <a:t>quality comes first.</a:t>
            </a:r>
            <a:br>
              <a:rPr sz="2000" dirty="0"/>
            </a:br>
            <a:r>
              <a:rPr sz="2000" dirty="0"/>
              <a:t>Business questions should guide analysis.</a:t>
            </a:r>
            <a:br>
              <a:rPr sz="2000" dirty="0"/>
            </a:br>
            <a:r>
              <a:rPr sz="2000" dirty="0"/>
              <a:t>Correlation ≠ causation.</a:t>
            </a:r>
            <a:br>
              <a:rPr sz="2000" dirty="0"/>
            </a:br>
            <a:r>
              <a:rPr sz="2000" dirty="0"/>
              <a:t>Statistical validation adds rigor.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49039"/>
            <a:ext cx="5440680" cy="2103120"/>
          </a:xfrm>
          <a:prstGeom prst="roundRect">
            <a:avLst/>
          </a:prstGeom>
          <a:solidFill>
            <a:srgbClr val="1C1F37"/>
          </a:solidFill>
          <a:ln>
            <a:solidFill>
              <a:srgbClr val="3A3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26480" y="3749039"/>
            <a:ext cx="64008" cy="2103120"/>
          </a:xfrm>
          <a:prstGeom prst="rect">
            <a:avLst/>
          </a:prstGeom>
          <a:solidFill>
            <a:srgbClr val="50B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27648" y="3913631"/>
            <a:ext cx="192713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F8FC"/>
                </a:solidFill>
                <a:latin typeface="Times New Roman"/>
              </a:defRPr>
            </a:pPr>
            <a:r>
              <a:rPr sz="2000" dirty="0"/>
              <a:t>Final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334255"/>
            <a:ext cx="50749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endParaRPr lang="en-US" sz="2000" dirty="0" smtClean="0"/>
          </a:p>
          <a:p>
            <a:pPr>
              <a:defRPr sz="1600">
                <a:solidFill>
                  <a:srgbClr val="BEBFCD"/>
                </a:solidFill>
                <a:latin typeface="Times New Roman"/>
              </a:defRPr>
            </a:pPr>
            <a:r>
              <a:rPr sz="2000" dirty="0" smtClean="0"/>
              <a:t>This </a:t>
            </a:r>
            <a:r>
              <a:rPr sz="2000" dirty="0"/>
              <a:t>internship helped me move from simply analyzing data to turning data into structured, evidence-based business insights.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3259" y="6035040"/>
            <a:ext cx="622356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B8ADFF"/>
                </a:solidFill>
                <a:latin typeface="Times New Roman"/>
              </a:defRPr>
            </a:pPr>
            <a:r>
              <a:rPr sz="2000" dirty="0"/>
              <a:t>Insights → Decisions → Measurement → Improvement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259237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 err="1"/>
              <a:t>ApexPlanet</a:t>
            </a:r>
            <a:r>
              <a:rPr sz="1000" dirty="0"/>
              <a:t> Data Analytics Internship • Task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4094" y="6510528"/>
            <a:ext cx="24878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BEBFCD"/>
                </a:solidFill>
                <a:latin typeface="Times New Roman"/>
              </a:defRPr>
            </a:pPr>
            <a:r>
              <a:rPr sz="1000" dirty="0"/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9112" y="2844102"/>
            <a:ext cx="8229600" cy="1143000"/>
          </a:xfrm>
        </p:spPr>
        <p:txBody>
          <a:bodyPr>
            <a:noAutofit/>
          </a:bodyPr>
          <a:lstStyle/>
          <a:p>
            <a:r>
              <a:rPr lang="en-US" sz="6000" b="1" i="1" dirty="0" smtClean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6000" b="1" i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85019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57</TotalTime>
  <Words>456</Words>
  <Application>Microsoft Office PowerPoint</Application>
  <PresentationFormat>Widescreen</PresentationFormat>
  <Paragraphs>130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Bookman Old Style</vt:lpstr>
      <vt:lpstr>Rockwell</vt:lpstr>
      <vt:lpstr>Times New Roman</vt:lpstr>
      <vt:lpstr>Damask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account</cp:lastModifiedBy>
  <cp:revision>24</cp:revision>
  <dcterms:created xsi:type="dcterms:W3CDTF">2013-01-27T09:14:16Z</dcterms:created>
  <dcterms:modified xsi:type="dcterms:W3CDTF">2026-10-08T02:55:55Z</dcterms:modified>
  <cp:category/>
</cp:coreProperties>
</file>